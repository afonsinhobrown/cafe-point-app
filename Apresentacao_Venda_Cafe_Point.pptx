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6600" b="1">
                <a:solidFill>
                  <a:srgbClr val="F8FAFC"/>
                </a:solidFill>
                <a:latin typeface="Arial"/>
              </a:defRPr>
            </a:pPr>
            <a:r>
              <a:t>CAFÉ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6366F1"/>
                </a:solidFill>
                <a:latin typeface="Arial"/>
              </a:defRPr>
            </a:pPr>
            <a:r>
              <a:t>O Fim do Caos Operacional no Seu Restaurante.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EF4444"/>
                </a:solidFill>
                <a:latin typeface="Arial"/>
              </a:defRPr>
            </a:pPr>
            <a:r>
              <a:t>QUANTO DINHEIRO ESTAMOS PERDENDO?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sz="2400" b="1">
                <a:solidFill>
                  <a:srgbClr val="F8FAFC"/>
                </a:solidFill>
              </a:defRPr>
            </a:pPr>
            <a:r>
              <a:t>DESPERDÍCIO DE STOCK (20%)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Sem controlo rigoroso, ingredientes somem ou estragam. O lucro vai para o lixo antes de chegar ao prato.</a:t>
            </a:r>
          </a:p>
          <a:p>
            <a:pPr>
              <a:spcBef>
                <a:spcPts val="2000"/>
              </a:spcBef>
              <a:defRPr sz="2400" b="1">
                <a:solidFill>
                  <a:srgbClr val="F8FAFC"/>
                </a:solidFill>
              </a:defRPr>
            </a:pPr>
            <a:r>
              <a:t>ERROS DE PEDIDO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Letra ilegível e falhas de comunicação cozinha-garçom geram pratos devolvidos e clientes insatisfeitos.</a:t>
            </a:r>
          </a:p>
          <a:p>
            <a:pPr>
              <a:spcBef>
                <a:spcPts val="2000"/>
              </a:spcBef>
              <a:defRPr sz="2400" b="1">
                <a:solidFill>
                  <a:srgbClr val="F8FAFC"/>
                </a:solidFill>
              </a:defRPr>
            </a:pPr>
            <a:r>
              <a:t>LENTIDÃO NO ATENDIMENTO</a:t>
            </a:r>
          </a:p>
          <a:p>
            <a:pPr>
              <a:spcAft>
                <a:spcPts val="1000"/>
              </a:spcAft>
              <a:defRPr sz="1800">
                <a:solidFill>
                  <a:srgbClr val="94A3B8"/>
                </a:solidFill>
              </a:defRPr>
            </a:pPr>
            <a:r>
              <a:t>Cada minuto de atraso é uma mesa que roda menos vezes na noite.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6366F1"/>
                </a:solidFill>
                <a:latin typeface="Arial"/>
              </a:defRPr>
            </a:pPr>
            <a:r>
              <a:t>A SOLUÇÃO: CONTROLO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8FAFC"/>
                </a:solidFill>
              </a:defRPr>
            </a:pPr>
            <a:r>
              <a:t>Uma plataforma única que conecta tudo em tempo real.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2400"/>
              </a:spcBef>
              <a:defRPr sz="2400" b="1">
                <a:solidFill>
                  <a:srgbClr val="6366F1"/>
                </a:solidFill>
              </a:defRPr>
            </a:pPr>
            <a:r>
              <a:t>• 📱 POS MÓVEL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   O garçom lança o pedido na mesa. Zero erros. Zero deslocações inúteis.</a:t>
            </a:r>
          </a:p>
          <a:p>
            <a:pPr>
              <a:spcBef>
                <a:spcPts val="2400"/>
              </a:spcBef>
              <a:defRPr sz="2400" b="1">
                <a:solidFill>
                  <a:srgbClr val="6366F1"/>
                </a:solidFill>
              </a:defRPr>
            </a:pPr>
            <a:r>
              <a:t>• 👨‍🍳 KDS (COZINHA DIGITAL)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   Ecrãs substituem papel. Fila organizada por ordem de chegada.</a:t>
            </a:r>
          </a:p>
          <a:p>
            <a:pPr>
              <a:spcBef>
                <a:spcPts val="2400"/>
              </a:spcBef>
              <a:defRPr sz="2400" b="1">
                <a:solidFill>
                  <a:srgbClr val="6366F1"/>
                </a:solidFill>
              </a:defRPr>
            </a:pPr>
            <a:r>
              <a:t>• 📉 STOCK AUTOMÁTICO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   Vendeu um prato? O sistema baixa os ingredientes. Instantâneo.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22C55E"/>
                </a:solidFill>
                <a:latin typeface="Arial"/>
              </a:defRPr>
            </a:pPr>
            <a:r>
              <a:t>O IMPACTO FINANCEIRO (ROI)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400" b="1">
                <a:solidFill>
                  <a:srgbClr val="F8FAFC"/>
                </a:solidFill>
              </a:defRPr>
            </a:pPr>
            <a:r>
              <a:t>🚀 AUMENTO DE RECEITA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• + Rotação de Mesas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• + Ticket Médio (Upsell)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• + Fidelização de Clientes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400" b="1">
                <a:solidFill>
                  <a:srgbClr val="F8FAFC"/>
                </a:solidFill>
              </a:defRPr>
            </a:pPr>
            <a:r>
              <a:t>💰 REDUÇÃO DE CUSTOS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• - Desperdício de Alimentos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• - Roubos e Desvios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• - Erros Operacionais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solidFill>
                  <a:srgbClr val="6366F1"/>
                </a:solidFill>
              </a:defRPr>
            </a:pPr>
            <a:r>
              <a:t>VAMOS MODERNIZAR?</a:t>
            </a:r>
          </a:p>
          <a:p>
            <a:pPr algn="ctr">
              <a:spcBef>
                <a:spcPts val="2000"/>
              </a:spcBef>
              <a:defRPr sz="2400">
                <a:solidFill>
                  <a:srgbClr val="F8FAFC"/>
                </a:solidFill>
              </a:defRPr>
            </a:pPr>
            <a:r>
              <a:t>Implementação completa em 3 semanas.</a:t>
            </a:r>
          </a:p>
          <a:p>
            <a:pPr algn="ctr">
              <a:spcBef>
                <a:spcPts val="1000"/>
              </a:spcBef>
              <a:defRPr sz="2000">
                <a:solidFill>
                  <a:srgbClr val="94A3B8"/>
                </a:solidFill>
              </a:defRPr>
            </a:pPr>
            <a:r>
              <a:t>Agende o 'Go-Live' hoje.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